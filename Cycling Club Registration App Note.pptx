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2F0BC-95FF-4EBB-823D-AD073BC23E5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83DE827-F3CE-4F8B-9F75-96641AADFD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44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2F0BC-95FF-4EBB-823D-AD073BC23E5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E827-F3CE-4F8B-9F75-96641AADFD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495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2F0BC-95FF-4EBB-823D-AD073BC23E5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83DE827-F3CE-4F8B-9F75-96641AADFD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525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2F0BC-95FF-4EBB-823D-AD073BC23E5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83DE827-F3CE-4F8B-9F75-96641AADFD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607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2F0BC-95FF-4EBB-823D-AD073BC23E5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83DE827-F3CE-4F8B-9F75-96641AADFD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181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2F0BC-95FF-4EBB-823D-AD073BC23E5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E827-F3CE-4F8B-9F75-96641AADFD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991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2F0BC-95FF-4EBB-823D-AD073BC23E5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E827-F3CE-4F8B-9F75-96641AADFD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289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2F0BC-95FF-4EBB-823D-AD073BC23E5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E827-F3CE-4F8B-9F75-96641AADFD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438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2F0BC-95FF-4EBB-823D-AD073BC23E5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83DE827-F3CE-4F8B-9F75-96641AADFD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01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2F0BC-95FF-4EBB-823D-AD073BC23E5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83DE827-F3CE-4F8B-9F75-96641AADFD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900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2F0BC-95FF-4EBB-823D-AD073BC23E5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83DE827-F3CE-4F8B-9F75-96641AADFD42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335752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2F0BC-95FF-4EBB-823D-AD073BC23E5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83DE827-F3CE-4F8B-9F75-96641AADFD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3944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2F0BC-95FF-4EBB-823D-AD073BC23E5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83DE827-F3CE-4F8B-9F75-96641AADFD42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19359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2F0BC-95FF-4EBB-823D-AD073BC23E5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83DE827-F3CE-4F8B-9F75-96641AADFD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1322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2F0BC-95FF-4EBB-823D-AD073BC23E5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E827-F3CE-4F8B-9F75-96641AADFD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2457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2F0BC-95FF-4EBB-823D-AD073BC23E5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E827-F3CE-4F8B-9F75-96641AADFD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463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32F0BC-95FF-4EBB-823D-AD073BC23E5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83DE827-F3CE-4F8B-9F75-96641AADFD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428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sqlitebrowser.org/dl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97A5B-2C5C-1C2E-7001-4FD0011FD2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Cycling Club Registration App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2E851F-1AE5-1B96-4877-03F978850D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Demo the usage of delegate</a:t>
            </a:r>
          </a:p>
        </p:txBody>
      </p:sp>
    </p:spTree>
    <p:extLst>
      <p:ext uri="{BB962C8B-B14F-4D97-AF65-F5344CB8AC3E}">
        <p14:creationId xmlns:p14="http://schemas.microsoft.com/office/powerpoint/2010/main" val="1107119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28A8B-0D35-5FBE-3B67-38326B990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5E042-A3A0-71E5-BFA1-D6D5C06E2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Demo code reuse</a:t>
            </a:r>
          </a:p>
          <a:p>
            <a:r>
              <a:rPr lang="en-US" dirty="0"/>
              <a:t>Demo design flexibility</a:t>
            </a:r>
          </a:p>
        </p:txBody>
      </p:sp>
    </p:spTree>
    <p:extLst>
      <p:ext uri="{BB962C8B-B14F-4D97-AF65-F5344CB8AC3E}">
        <p14:creationId xmlns:p14="http://schemas.microsoft.com/office/powerpoint/2010/main" val="419679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35952-3E03-C105-A7A1-EB58060A5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4448D5-CFD0-98FA-3730-14A6B1B86D9F}"/>
              </a:ext>
            </a:extLst>
          </p:cNvPr>
          <p:cNvSpPr txBox="1"/>
          <p:nvPr/>
        </p:nvSpPr>
        <p:spPr>
          <a:xfrm>
            <a:off x="1877588" y="6049224"/>
            <a:ext cx="79415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SQLite DB Browser Installer: </a:t>
            </a:r>
            <a:r>
              <a:rPr lang="en-US" dirty="0">
                <a:hlinkClick r:id="rId2"/>
              </a:rPr>
              <a:t>https://sqlitebrowser.org/dl/</a:t>
            </a:r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9F14B6D-3374-5873-D18C-260964C3F74D}"/>
              </a:ext>
            </a:extLst>
          </p:cNvPr>
          <p:cNvGrpSpPr/>
          <p:nvPr/>
        </p:nvGrpSpPr>
        <p:grpSpPr>
          <a:xfrm>
            <a:off x="2592925" y="1404491"/>
            <a:ext cx="7761728" cy="3416587"/>
            <a:chOff x="2653470" y="1524132"/>
            <a:chExt cx="7761728" cy="3416587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31D742A-B589-DD7D-487E-3D523DB733A1}"/>
                </a:ext>
              </a:extLst>
            </p:cNvPr>
            <p:cNvGrpSpPr/>
            <p:nvPr/>
          </p:nvGrpSpPr>
          <p:grpSpPr>
            <a:xfrm>
              <a:off x="2653470" y="1524132"/>
              <a:ext cx="7761728" cy="1280890"/>
              <a:chOff x="2653470" y="1524132"/>
              <a:chExt cx="7761728" cy="1280890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AC1E8C2B-C3F8-C1E4-0113-C9B40FF7F307}"/>
                  </a:ext>
                </a:extLst>
              </p:cNvPr>
              <p:cNvGrpSpPr/>
              <p:nvPr/>
            </p:nvGrpSpPr>
            <p:grpSpPr>
              <a:xfrm>
                <a:off x="2653470" y="1524132"/>
                <a:ext cx="4513602" cy="1280890"/>
                <a:chOff x="3277313" y="1703594"/>
                <a:chExt cx="4513602" cy="1280890"/>
              </a:xfrm>
            </p:grpSpPr>
            <p:sp>
              <p:nvSpPr>
                <p:cNvPr id="4" name="Flowchart: Magnetic Disk 3">
                  <a:extLst>
                    <a:ext uri="{FF2B5EF4-FFF2-40B4-BE49-F238E27FC236}">
                      <a16:creationId xmlns:a16="http://schemas.microsoft.com/office/drawing/2014/main" id="{F72D4C9B-1C4A-A093-683B-2EA0D7BC9953}"/>
                    </a:ext>
                  </a:extLst>
                </p:cNvPr>
                <p:cNvSpPr/>
                <p:nvPr/>
              </p:nvSpPr>
              <p:spPr>
                <a:xfrm>
                  <a:off x="6773966" y="1703594"/>
                  <a:ext cx="1016949" cy="1280890"/>
                </a:xfrm>
                <a:prstGeom prst="flowChartMagneticDisk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SQLite</a:t>
                  </a:r>
                </a:p>
              </p:txBody>
            </p:sp>
            <p:sp>
              <p:nvSpPr>
                <p:cNvPr id="5" name="Flowchart: Process 4">
                  <a:extLst>
                    <a:ext uri="{FF2B5EF4-FFF2-40B4-BE49-F238E27FC236}">
                      <a16:creationId xmlns:a16="http://schemas.microsoft.com/office/drawing/2014/main" id="{7EED42E5-4ACB-9E43-51A8-EFCB99505B25}"/>
                    </a:ext>
                  </a:extLst>
                </p:cNvPr>
                <p:cNvSpPr/>
                <p:nvPr/>
              </p:nvSpPr>
              <p:spPr>
                <a:xfrm>
                  <a:off x="3277313" y="1905000"/>
                  <a:ext cx="1632246" cy="878080"/>
                </a:xfrm>
                <a:prstGeom prst="flowChartProcess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Registration App</a:t>
                  </a:r>
                </a:p>
              </p:txBody>
            </p:sp>
            <p:cxnSp>
              <p:nvCxnSpPr>
                <p:cNvPr id="7" name="Straight Arrow Connector 6">
                  <a:extLst>
                    <a:ext uri="{FF2B5EF4-FFF2-40B4-BE49-F238E27FC236}">
                      <a16:creationId xmlns:a16="http://schemas.microsoft.com/office/drawing/2014/main" id="{A5CC622D-329E-3E32-BC62-003B2D3A10CD}"/>
                    </a:ext>
                  </a:extLst>
                </p:cNvPr>
                <p:cNvCxnSpPr>
                  <a:stCxn id="5" idx="3"/>
                  <a:endCxn id="4" idx="2"/>
                </p:cNvCxnSpPr>
                <p:nvPr/>
              </p:nvCxnSpPr>
              <p:spPr>
                <a:xfrm flipV="1">
                  <a:off x="4909559" y="2344039"/>
                  <a:ext cx="1864407" cy="1"/>
                </a:xfrm>
                <a:prstGeom prst="straightConnector1">
                  <a:avLst/>
                </a:prstGeom>
                <a:ln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3C5A1425-B8D8-C8B9-C503-F0C5D16F96FE}"/>
                    </a:ext>
                  </a:extLst>
                </p:cNvPr>
                <p:cNvSpPr txBox="1"/>
                <p:nvPr/>
              </p:nvSpPr>
              <p:spPr>
                <a:xfrm>
                  <a:off x="5010342" y="1986144"/>
                  <a:ext cx="17636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Store/Retrieve</a:t>
                  </a:r>
                </a:p>
              </p:txBody>
            </p:sp>
          </p:grpSp>
          <p:sp>
            <p:nvSpPr>
              <p:cNvPr id="13" name="Flowchart: Process 12">
                <a:extLst>
                  <a:ext uri="{FF2B5EF4-FFF2-40B4-BE49-F238E27FC236}">
                    <a16:creationId xmlns:a16="http://schemas.microsoft.com/office/drawing/2014/main" id="{A6589FFB-5CE7-EBAF-3496-C7A53D00B8D1}"/>
                  </a:ext>
                </a:extLst>
              </p:cNvPr>
              <p:cNvSpPr/>
              <p:nvPr/>
            </p:nvSpPr>
            <p:spPr>
              <a:xfrm>
                <a:off x="8782952" y="1722689"/>
                <a:ext cx="1632246" cy="878080"/>
              </a:xfrm>
              <a:prstGeom prst="flowChartProcess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Login Form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2FCD9026-7B9B-9E98-22D5-6F0AF6FC2248}"/>
                  </a:ext>
                </a:extLst>
              </p:cNvPr>
              <p:cNvCxnSpPr>
                <a:stCxn id="4" idx="4"/>
                <a:endCxn id="13" idx="1"/>
              </p:cNvCxnSpPr>
              <p:nvPr/>
            </p:nvCxnSpPr>
            <p:spPr>
              <a:xfrm flipV="1">
                <a:off x="7167072" y="2161729"/>
                <a:ext cx="1615880" cy="284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26845A9-1D47-18EC-FB18-64E5CFD45670}"/>
                  </a:ext>
                </a:extLst>
              </p:cNvPr>
              <p:cNvSpPr txBox="1"/>
              <p:nvPr/>
            </p:nvSpPr>
            <p:spPr>
              <a:xfrm>
                <a:off x="7196493" y="1792397"/>
                <a:ext cx="16017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Retrieved by</a:t>
                </a:r>
              </a:p>
            </p:txBody>
          </p:sp>
        </p:grpSp>
        <p:sp>
          <p:nvSpPr>
            <p:cNvPr id="22" name="Flowchart: Process 21">
              <a:extLst>
                <a:ext uri="{FF2B5EF4-FFF2-40B4-BE49-F238E27FC236}">
                  <a16:creationId xmlns:a16="http://schemas.microsoft.com/office/drawing/2014/main" id="{DAF20B66-F1DF-50B9-0FE6-63234F611F18}"/>
                </a:ext>
              </a:extLst>
            </p:cNvPr>
            <p:cNvSpPr/>
            <p:nvPr/>
          </p:nvSpPr>
          <p:spPr>
            <a:xfrm>
              <a:off x="5701469" y="3935163"/>
              <a:ext cx="1914258" cy="1005556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SQLite DB Browser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C6299ED1-5F3E-A676-1509-D8932B7DB1F9}"/>
                </a:ext>
              </a:extLst>
            </p:cNvPr>
            <p:cNvCxnSpPr>
              <a:stCxn id="22" idx="0"/>
              <a:endCxn id="4" idx="3"/>
            </p:cNvCxnSpPr>
            <p:nvPr/>
          </p:nvCxnSpPr>
          <p:spPr>
            <a:xfrm flipV="1">
              <a:off x="6658598" y="2805022"/>
              <a:ext cx="0" cy="113014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5B4E308-F99D-F4F6-A6CA-699036788512}"/>
                </a:ext>
              </a:extLst>
            </p:cNvPr>
            <p:cNvSpPr txBox="1"/>
            <p:nvPr/>
          </p:nvSpPr>
          <p:spPr>
            <a:xfrm>
              <a:off x="6658597" y="3145350"/>
              <a:ext cx="18870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Read/Modified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47360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197F5-6805-689F-71C0-551FFD6F5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– User class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066AA06-3E3F-C35D-D2A4-3F634FA3BF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0450769"/>
              </p:ext>
            </p:extLst>
          </p:nvPr>
        </p:nvGraphicFramePr>
        <p:xfrm>
          <a:off x="2592925" y="1540042"/>
          <a:ext cx="7507923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5793">
                  <a:extLst>
                    <a:ext uri="{9D8B030D-6E8A-4147-A177-3AD203B41FA5}">
                      <a16:colId xmlns:a16="http://schemas.microsoft.com/office/drawing/2014/main" val="1589633609"/>
                    </a:ext>
                  </a:extLst>
                </a:gridCol>
                <a:gridCol w="2424430">
                  <a:extLst>
                    <a:ext uri="{9D8B030D-6E8A-4147-A177-3AD203B41FA5}">
                      <a16:colId xmlns:a16="http://schemas.microsoft.com/office/drawing/2014/main" val="2367633077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84215897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32978490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Property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Remark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2240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Auto increase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046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FirstName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778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LastName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29741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0560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DateOfBirth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DateTime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68600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PhoneNumber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2362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AddressFirstLine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734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AddressSecondLine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59284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AddressCity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1250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Postcode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2988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0759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FB874-AE57-6EF8-7257-7F4738EB6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NuGet Package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87CB2-44E3-8D4E-325D-4ACD41F3E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7917" y="1697764"/>
            <a:ext cx="10368185" cy="3777622"/>
          </a:xfrm>
        </p:spPr>
        <p:txBody>
          <a:bodyPr/>
          <a:lstStyle/>
          <a:p>
            <a:r>
              <a:rPr lang="en-US" dirty="0"/>
              <a:t>Tools &gt; </a:t>
            </a:r>
            <a:r>
              <a:rPr lang="en-US" dirty="0" err="1"/>
              <a:t>Nuget</a:t>
            </a:r>
            <a:r>
              <a:rPr lang="en-US" dirty="0"/>
              <a:t> Package Manager &gt; Manage NuGet Package Manager for Solution …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5A06B60-A056-E308-1C5D-A4BA04B8F9BF}"/>
              </a:ext>
            </a:extLst>
          </p:cNvPr>
          <p:cNvGrpSpPr/>
          <p:nvPr/>
        </p:nvGrpSpPr>
        <p:grpSpPr>
          <a:xfrm>
            <a:off x="1495514" y="2170587"/>
            <a:ext cx="10287522" cy="4448175"/>
            <a:chOff x="1495514" y="2170587"/>
            <a:chExt cx="10287522" cy="444817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F28E483-1EA3-3983-7324-63F25D4C4A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92925" y="2170587"/>
              <a:ext cx="8553450" cy="4448175"/>
            </a:xfrm>
            <a:prstGeom prst="rect">
              <a:avLst/>
            </a:prstGeom>
          </p:spPr>
        </p:pic>
        <p:sp>
          <p:nvSpPr>
            <p:cNvPr id="8" name="Speech Bubble: Rectangle with Corners Rounded 7">
              <a:extLst>
                <a:ext uri="{FF2B5EF4-FFF2-40B4-BE49-F238E27FC236}">
                  <a16:creationId xmlns:a16="http://schemas.microsoft.com/office/drawing/2014/main" id="{883CAB14-C203-80D0-8953-54B8D03CF0D7}"/>
                </a:ext>
              </a:extLst>
            </p:cNvPr>
            <p:cNvSpPr/>
            <p:nvPr/>
          </p:nvSpPr>
          <p:spPr>
            <a:xfrm>
              <a:off x="1495514" y="4067798"/>
              <a:ext cx="1273323" cy="885203"/>
            </a:xfrm>
            <a:prstGeom prst="wedgeRoundRectCallout">
              <a:avLst>
                <a:gd name="adj1" fmla="val 58477"/>
                <a:gd name="adj2" fmla="val -93896"/>
                <a:gd name="adj3" fmla="val 1666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Select this</a:t>
              </a:r>
            </a:p>
          </p:txBody>
        </p:sp>
        <p:sp>
          <p:nvSpPr>
            <p:cNvPr id="9" name="Speech Bubble: Rectangle with Corners Rounded 8">
              <a:extLst>
                <a:ext uri="{FF2B5EF4-FFF2-40B4-BE49-F238E27FC236}">
                  <a16:creationId xmlns:a16="http://schemas.microsoft.com/office/drawing/2014/main" id="{3FB32CF0-409A-2E2E-36C1-3C229F65083B}"/>
                </a:ext>
              </a:extLst>
            </p:cNvPr>
            <p:cNvSpPr/>
            <p:nvPr/>
          </p:nvSpPr>
          <p:spPr>
            <a:xfrm>
              <a:off x="10509713" y="4275034"/>
              <a:ext cx="1273323" cy="356788"/>
            </a:xfrm>
            <a:prstGeom prst="wedgeRoundRectCallout">
              <a:avLst>
                <a:gd name="adj1" fmla="val -68369"/>
                <a:gd name="adj2" fmla="val -44661"/>
                <a:gd name="adj3" fmla="val 1666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Tick</a:t>
              </a:r>
            </a:p>
          </p:txBody>
        </p:sp>
        <p:sp>
          <p:nvSpPr>
            <p:cNvPr id="10" name="Speech Bubble: Rectangle with Corners Rounded 9">
              <a:extLst>
                <a:ext uri="{FF2B5EF4-FFF2-40B4-BE49-F238E27FC236}">
                  <a16:creationId xmlns:a16="http://schemas.microsoft.com/office/drawing/2014/main" id="{EEF16000-14FB-8355-1943-F9B48BC50468}"/>
                </a:ext>
              </a:extLst>
            </p:cNvPr>
            <p:cNvSpPr/>
            <p:nvPr/>
          </p:nvSpPr>
          <p:spPr>
            <a:xfrm>
              <a:off x="8195417" y="4777099"/>
              <a:ext cx="1928666" cy="383137"/>
            </a:xfrm>
            <a:prstGeom prst="wedgeRoundRectCallout">
              <a:avLst>
                <a:gd name="adj1" fmla="val 6754"/>
                <a:gd name="adj2" fmla="val 281884"/>
                <a:gd name="adj3" fmla="val 1666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Choose correct version before install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61609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1BCEA-D052-968C-9933-BD6AB6646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Validate the Package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C6FACD-5018-EA90-FBAF-0F66B95D8D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13363" y="2751137"/>
            <a:ext cx="3467100" cy="2543175"/>
          </a:xfr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6C010-94B0-5A80-BB30-81EBADE57F58}"/>
              </a:ext>
            </a:extLst>
          </p:cNvPr>
          <p:cNvSpPr/>
          <p:nvPr/>
        </p:nvSpPr>
        <p:spPr>
          <a:xfrm>
            <a:off x="5860108" y="4477996"/>
            <a:ext cx="2871387" cy="23073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94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2A33A-FBD6-4E11-6E02-758AE15F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DbContext</a:t>
            </a:r>
            <a:r>
              <a:rPr lang="en-US" dirty="0"/>
              <a:t> – create the connection to database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AF673D-2E99-4DF5-6AF4-DC8E15CB91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9213" y="2954098"/>
            <a:ext cx="8915400" cy="2137253"/>
          </a:xfrm>
        </p:spPr>
      </p:pic>
    </p:spTree>
    <p:extLst>
      <p:ext uri="{BB962C8B-B14F-4D97-AF65-F5344CB8AC3E}">
        <p14:creationId xmlns:p14="http://schemas.microsoft.com/office/powerpoint/2010/main" val="945859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2D55D-8FFD-B451-C27D-93EF404F3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NuGet Package for DB Migration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1AF256-2D03-3AA7-ED41-190AFFDA7D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09944" y="2133600"/>
            <a:ext cx="7273938" cy="3778250"/>
          </a:xfr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8351E2FB-1978-2372-9F4D-D82EA24616E3}"/>
              </a:ext>
            </a:extLst>
          </p:cNvPr>
          <p:cNvGrpSpPr/>
          <p:nvPr/>
        </p:nvGrpSpPr>
        <p:grpSpPr>
          <a:xfrm>
            <a:off x="2230452" y="3832432"/>
            <a:ext cx="9166954" cy="885203"/>
            <a:chOff x="2230452" y="3832432"/>
            <a:chExt cx="9166954" cy="885203"/>
          </a:xfrm>
        </p:grpSpPr>
        <p:sp>
          <p:nvSpPr>
            <p:cNvPr id="6" name="Speech Bubble: Rectangle with Corners Rounded 5">
              <a:extLst>
                <a:ext uri="{FF2B5EF4-FFF2-40B4-BE49-F238E27FC236}">
                  <a16:creationId xmlns:a16="http://schemas.microsoft.com/office/drawing/2014/main" id="{37DA80F2-A177-E27F-1FEC-F38C688FC743}"/>
                </a:ext>
              </a:extLst>
            </p:cNvPr>
            <p:cNvSpPr/>
            <p:nvPr/>
          </p:nvSpPr>
          <p:spPr>
            <a:xfrm>
              <a:off x="2230452" y="3832432"/>
              <a:ext cx="1273323" cy="885203"/>
            </a:xfrm>
            <a:prstGeom prst="wedgeRoundRectCallout">
              <a:avLst>
                <a:gd name="adj1" fmla="val 58477"/>
                <a:gd name="adj2" fmla="val -93896"/>
                <a:gd name="adj3" fmla="val 1666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Select this</a:t>
              </a:r>
            </a:p>
          </p:txBody>
        </p:sp>
        <p:sp>
          <p:nvSpPr>
            <p:cNvPr id="7" name="Speech Bubble: Rectangle with Corners Rounded 6">
              <a:extLst>
                <a:ext uri="{FF2B5EF4-FFF2-40B4-BE49-F238E27FC236}">
                  <a16:creationId xmlns:a16="http://schemas.microsoft.com/office/drawing/2014/main" id="{74CB4463-0362-7D58-B9EC-3A16574A5361}"/>
                </a:ext>
              </a:extLst>
            </p:cNvPr>
            <p:cNvSpPr/>
            <p:nvPr/>
          </p:nvSpPr>
          <p:spPr>
            <a:xfrm>
              <a:off x="10124083" y="3935338"/>
              <a:ext cx="1273323" cy="356788"/>
            </a:xfrm>
            <a:prstGeom prst="wedgeRoundRectCallout">
              <a:avLst>
                <a:gd name="adj1" fmla="val -68369"/>
                <a:gd name="adj2" fmla="val -44661"/>
                <a:gd name="adj3" fmla="val 1666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Tick</a:t>
              </a:r>
            </a:p>
          </p:txBody>
        </p:sp>
        <p:sp>
          <p:nvSpPr>
            <p:cNvPr id="8" name="Speech Bubble: Rectangle with Corners Rounded 7">
              <a:extLst>
                <a:ext uri="{FF2B5EF4-FFF2-40B4-BE49-F238E27FC236}">
                  <a16:creationId xmlns:a16="http://schemas.microsoft.com/office/drawing/2014/main" id="{9FB7F924-DF47-79B1-D723-674B437D4F18}"/>
                </a:ext>
              </a:extLst>
            </p:cNvPr>
            <p:cNvSpPr/>
            <p:nvPr/>
          </p:nvSpPr>
          <p:spPr>
            <a:xfrm>
              <a:off x="8195417" y="4248685"/>
              <a:ext cx="1928666" cy="383137"/>
            </a:xfrm>
            <a:prstGeom prst="wedgeRoundRectCallout">
              <a:avLst>
                <a:gd name="adj1" fmla="val 6754"/>
                <a:gd name="adj2" fmla="val 281884"/>
                <a:gd name="adj3" fmla="val 1666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Choose correct version before install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4C119A4-4192-A9F7-1E4D-34E8718FEAB8}"/>
              </a:ext>
            </a:extLst>
          </p:cNvPr>
          <p:cNvSpPr txBox="1"/>
          <p:nvPr/>
        </p:nvSpPr>
        <p:spPr>
          <a:xfrm>
            <a:off x="2592925" y="6340979"/>
            <a:ext cx="8398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Refer </a:t>
            </a:r>
            <a:r>
              <a:rPr lang="en-US" dirty="0">
                <a:hlinkClick r:id="rId3" action="ppaction://hlinksldjump"/>
              </a:rPr>
              <a:t>Validate the Package</a:t>
            </a:r>
            <a:r>
              <a:rPr lang="en-US" dirty="0"/>
              <a:t> slide on how to validate if installation success</a:t>
            </a:r>
          </a:p>
        </p:txBody>
      </p:sp>
    </p:spTree>
    <p:extLst>
      <p:ext uri="{BB962C8B-B14F-4D97-AF65-F5344CB8AC3E}">
        <p14:creationId xmlns:p14="http://schemas.microsoft.com/office/powerpoint/2010/main" val="3916405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7100F-0655-5A73-C119-70BAB4992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9507920" cy="1280890"/>
          </a:xfrm>
        </p:spPr>
        <p:txBody>
          <a:bodyPr/>
          <a:lstStyle/>
          <a:p>
            <a:r>
              <a:rPr lang="en-US" dirty="0"/>
              <a:t>Migration – version control for Db schema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39CECC-A3AE-75D0-D6E6-C902AC2104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53219"/>
          <a:stretch/>
        </p:blipFill>
        <p:spPr>
          <a:xfrm>
            <a:off x="2678383" y="1905000"/>
            <a:ext cx="3243853" cy="1457325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8B45B5-7F77-E9BF-E2A0-01E0F4BF5A8B}"/>
              </a:ext>
            </a:extLst>
          </p:cNvPr>
          <p:cNvSpPr txBox="1"/>
          <p:nvPr/>
        </p:nvSpPr>
        <p:spPr>
          <a:xfrm>
            <a:off x="2484688" y="1421943"/>
            <a:ext cx="7411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Tools &gt; </a:t>
            </a:r>
            <a:r>
              <a:rPr lang="en-US" dirty="0" err="1"/>
              <a:t>Nuget</a:t>
            </a:r>
            <a:r>
              <a:rPr lang="en-US" dirty="0"/>
              <a:t> Package Manager &gt; Package Manager Console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093B12-9AD7-77D8-467B-814BC97952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1786" y="1905000"/>
            <a:ext cx="3343275" cy="270510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7A1B903-3A0A-791E-4236-2394566BB262}"/>
              </a:ext>
            </a:extLst>
          </p:cNvPr>
          <p:cNvSpPr/>
          <p:nvPr/>
        </p:nvSpPr>
        <p:spPr>
          <a:xfrm>
            <a:off x="7277729" y="3620855"/>
            <a:ext cx="3028499" cy="20202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2F288DE8-F8EC-5769-3316-7E6E1602FA8F}"/>
              </a:ext>
            </a:extLst>
          </p:cNvPr>
          <p:cNvSpPr/>
          <p:nvPr/>
        </p:nvSpPr>
        <p:spPr>
          <a:xfrm>
            <a:off x="10424514" y="2846030"/>
            <a:ext cx="1928666" cy="383137"/>
          </a:xfrm>
          <a:prstGeom prst="wedgeRoundRectCallout">
            <a:avLst>
              <a:gd name="adj1" fmla="val -81865"/>
              <a:gd name="adj2" fmla="val 150286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Created the Migrations class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ABF06A-4D19-3632-14FB-500BBBACE9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1229" y="5114702"/>
            <a:ext cx="5229225" cy="155257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FD8CB9D-92EB-1953-74EF-F51BDA861EF1}"/>
              </a:ext>
            </a:extLst>
          </p:cNvPr>
          <p:cNvSpPr txBox="1"/>
          <p:nvPr/>
        </p:nvSpPr>
        <p:spPr>
          <a:xfrm>
            <a:off x="10699335" y="48796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65721DC-68DD-3F49-E5E0-05063A0C8587}"/>
              </a:ext>
            </a:extLst>
          </p:cNvPr>
          <p:cNvSpPr/>
          <p:nvPr/>
        </p:nvSpPr>
        <p:spPr>
          <a:xfrm>
            <a:off x="8646920" y="5417276"/>
            <a:ext cx="1316052" cy="2784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Create user table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F7A9B85-989F-7C4F-42C5-44C63021C2F1}"/>
              </a:ext>
            </a:extLst>
          </p:cNvPr>
          <p:cNvSpPr/>
          <p:nvPr/>
        </p:nvSpPr>
        <p:spPr>
          <a:xfrm>
            <a:off x="8646920" y="6061104"/>
            <a:ext cx="1316052" cy="2784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Drop user table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75B94EB-D1CD-38E5-D3E5-27D70DDBA0A8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>
            <a:off x="8791979" y="3822884"/>
            <a:ext cx="573863" cy="12918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E9A34D1A-4F98-0DC6-A3BE-67741AB2EC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215" y="5209951"/>
            <a:ext cx="3495675" cy="1362075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64C96CA-0220-2C58-E25B-B69AB03709C0}"/>
              </a:ext>
            </a:extLst>
          </p:cNvPr>
          <p:cNvCxnSpPr>
            <a:cxnSpLocks/>
            <a:stCxn id="25" idx="3"/>
            <a:endCxn id="13" idx="1"/>
          </p:cNvCxnSpPr>
          <p:nvPr/>
        </p:nvCxnSpPr>
        <p:spPr>
          <a:xfrm>
            <a:off x="2678384" y="5745076"/>
            <a:ext cx="4072845" cy="14591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4A32C7B-701E-FE15-9D76-66CA73674A40}"/>
              </a:ext>
            </a:extLst>
          </p:cNvPr>
          <p:cNvSpPr/>
          <p:nvPr/>
        </p:nvSpPr>
        <p:spPr>
          <a:xfrm>
            <a:off x="1559392" y="5670465"/>
            <a:ext cx="1118992" cy="14922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A5EAE6-47DD-50C9-E5F0-24564BC3DF26}"/>
              </a:ext>
            </a:extLst>
          </p:cNvPr>
          <p:cNvSpPr txBox="1"/>
          <p:nvPr/>
        </p:nvSpPr>
        <p:spPr>
          <a:xfrm>
            <a:off x="4639911" y="5448701"/>
            <a:ext cx="2066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Create the table</a:t>
            </a:r>
          </a:p>
        </p:txBody>
      </p:sp>
    </p:spTree>
    <p:extLst>
      <p:ext uri="{BB962C8B-B14F-4D97-AF65-F5344CB8AC3E}">
        <p14:creationId xmlns:p14="http://schemas.microsoft.com/office/powerpoint/2010/main" val="2211331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CA146-BC7C-E497-86B4-7CA45C70A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266465"/>
            <a:ext cx="8911687" cy="1280890"/>
          </a:xfrm>
        </p:spPr>
        <p:txBody>
          <a:bodyPr/>
          <a:lstStyle/>
          <a:p>
            <a:r>
              <a:rPr lang="en-US" dirty="0"/>
              <a:t>Check the Database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BB8C2F-E805-6A0B-5DAE-CA9561DC53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2793"/>
          <a:stretch/>
        </p:blipFill>
        <p:spPr>
          <a:xfrm>
            <a:off x="3559379" y="1065904"/>
            <a:ext cx="7843140" cy="141212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0E21C3-43A1-9187-CB29-9E3E82392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984" y="1927077"/>
            <a:ext cx="5151828" cy="4930923"/>
          </a:xfrm>
          <a:prstGeom prst="rect">
            <a:avLst/>
          </a:prstGeom>
        </p:spPr>
      </p:pic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B7F9CEFA-B019-DF16-BE1A-66CD8B978D8A}"/>
              </a:ext>
            </a:extLst>
          </p:cNvPr>
          <p:cNvSpPr/>
          <p:nvPr/>
        </p:nvSpPr>
        <p:spPr>
          <a:xfrm>
            <a:off x="7048768" y="2606467"/>
            <a:ext cx="1928666" cy="383137"/>
          </a:xfrm>
          <a:prstGeom prst="wedgeRoundRectCallout">
            <a:avLst>
              <a:gd name="adj1" fmla="val -54393"/>
              <a:gd name="adj2" fmla="val -157521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Browse with DB Browser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C61A12A-5E51-947E-EA57-78CB41AE3024}"/>
              </a:ext>
            </a:extLst>
          </p:cNvPr>
          <p:cNvCxnSpPr>
            <a:cxnSpLocks/>
            <a:stCxn id="12" idx="1"/>
            <a:endCxn id="7" idx="3"/>
          </p:cNvCxnSpPr>
          <p:nvPr/>
        </p:nvCxnSpPr>
        <p:spPr>
          <a:xfrm flipH="1">
            <a:off x="5505812" y="2798036"/>
            <a:ext cx="1542956" cy="15945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931213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100</TotalTime>
  <Words>184</Words>
  <Application>Microsoft Office PowerPoint</Application>
  <PresentationFormat>Widescreen</PresentationFormat>
  <Paragraphs>70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Wisp</vt:lpstr>
      <vt:lpstr>Cycling Club Registration App</vt:lpstr>
      <vt:lpstr>Objective</vt:lpstr>
      <vt:lpstr>Overview</vt:lpstr>
      <vt:lpstr>Models – User class</vt:lpstr>
      <vt:lpstr>Installing NuGet Package</vt:lpstr>
      <vt:lpstr>Validate the Package</vt:lpstr>
      <vt:lpstr>DbContext – create the connection to database</vt:lpstr>
      <vt:lpstr>Installing NuGet Package for DB Migration</vt:lpstr>
      <vt:lpstr>Migration – version control for Db schema</vt:lpstr>
      <vt:lpstr>Check the Database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leng keong gan</dc:creator>
  <cp:lastModifiedBy>leng keong gan</cp:lastModifiedBy>
  <cp:revision>1</cp:revision>
  <dcterms:created xsi:type="dcterms:W3CDTF">2026-03-12T03:43:38Z</dcterms:created>
  <dcterms:modified xsi:type="dcterms:W3CDTF">2026-03-12T05:23:56Z</dcterms:modified>
</cp:coreProperties>
</file>